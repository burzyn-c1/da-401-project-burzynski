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51206400" cy="32918400"/>
  <p:notesSz cx="6858000" cy="9144000"/>
  <p:defaultTextStyle>
    <a:defPPr>
      <a:defRPr lang="en-US"/>
    </a:defPPr>
    <a:lvl1pPr marL="0" algn="l" defTabSz="2403546" rtl="0" eaLnBrk="1" latinLnBrk="0" hangingPunct="1">
      <a:defRPr sz="9500" kern="1200">
        <a:solidFill>
          <a:schemeClr val="tx1"/>
        </a:solidFill>
        <a:latin typeface="+mn-lt"/>
        <a:ea typeface="+mn-ea"/>
        <a:cs typeface="+mn-cs"/>
      </a:defRPr>
    </a:lvl1pPr>
    <a:lvl2pPr marL="2403546" algn="l" defTabSz="2403546" rtl="0" eaLnBrk="1" latinLnBrk="0" hangingPunct="1">
      <a:defRPr sz="9500" kern="1200">
        <a:solidFill>
          <a:schemeClr val="tx1"/>
        </a:solidFill>
        <a:latin typeface="+mn-lt"/>
        <a:ea typeface="+mn-ea"/>
        <a:cs typeface="+mn-cs"/>
      </a:defRPr>
    </a:lvl2pPr>
    <a:lvl3pPr marL="4807092" algn="l" defTabSz="2403546" rtl="0" eaLnBrk="1" latinLnBrk="0" hangingPunct="1">
      <a:defRPr sz="9500" kern="1200">
        <a:solidFill>
          <a:schemeClr val="tx1"/>
        </a:solidFill>
        <a:latin typeface="+mn-lt"/>
        <a:ea typeface="+mn-ea"/>
        <a:cs typeface="+mn-cs"/>
      </a:defRPr>
    </a:lvl3pPr>
    <a:lvl4pPr marL="7210638" algn="l" defTabSz="2403546" rtl="0" eaLnBrk="1" latinLnBrk="0" hangingPunct="1">
      <a:defRPr sz="9500" kern="1200">
        <a:solidFill>
          <a:schemeClr val="tx1"/>
        </a:solidFill>
        <a:latin typeface="+mn-lt"/>
        <a:ea typeface="+mn-ea"/>
        <a:cs typeface="+mn-cs"/>
      </a:defRPr>
    </a:lvl4pPr>
    <a:lvl5pPr marL="9614184" algn="l" defTabSz="2403546" rtl="0" eaLnBrk="1" latinLnBrk="0" hangingPunct="1">
      <a:defRPr sz="9500" kern="1200">
        <a:solidFill>
          <a:schemeClr val="tx1"/>
        </a:solidFill>
        <a:latin typeface="+mn-lt"/>
        <a:ea typeface="+mn-ea"/>
        <a:cs typeface="+mn-cs"/>
      </a:defRPr>
    </a:lvl5pPr>
    <a:lvl6pPr marL="12017731" algn="l" defTabSz="2403546" rtl="0" eaLnBrk="1" latinLnBrk="0" hangingPunct="1">
      <a:defRPr sz="9500" kern="1200">
        <a:solidFill>
          <a:schemeClr val="tx1"/>
        </a:solidFill>
        <a:latin typeface="+mn-lt"/>
        <a:ea typeface="+mn-ea"/>
        <a:cs typeface="+mn-cs"/>
      </a:defRPr>
    </a:lvl6pPr>
    <a:lvl7pPr marL="14421277" algn="l" defTabSz="2403546" rtl="0" eaLnBrk="1" latinLnBrk="0" hangingPunct="1">
      <a:defRPr sz="9500" kern="1200">
        <a:solidFill>
          <a:schemeClr val="tx1"/>
        </a:solidFill>
        <a:latin typeface="+mn-lt"/>
        <a:ea typeface="+mn-ea"/>
        <a:cs typeface="+mn-cs"/>
      </a:defRPr>
    </a:lvl7pPr>
    <a:lvl8pPr marL="16824823" algn="l" defTabSz="2403546" rtl="0" eaLnBrk="1" latinLnBrk="0" hangingPunct="1">
      <a:defRPr sz="9500" kern="1200">
        <a:solidFill>
          <a:schemeClr val="tx1"/>
        </a:solidFill>
        <a:latin typeface="+mn-lt"/>
        <a:ea typeface="+mn-ea"/>
        <a:cs typeface="+mn-cs"/>
      </a:defRPr>
    </a:lvl8pPr>
    <a:lvl9pPr marL="19228369" algn="l" defTabSz="2403546" rtl="0" eaLnBrk="1" latinLnBrk="0" hangingPunct="1">
      <a:defRPr sz="9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61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09"/>
  </p:normalViewPr>
  <p:slideViewPr>
    <p:cSldViewPr snapToGrid="0" snapToObjects="1">
      <p:cViewPr>
        <p:scale>
          <a:sx n="33" d="100"/>
          <a:sy n="33" d="100"/>
        </p:scale>
        <p:origin x="-2851" y="-3384"/>
      </p:cViewPr>
      <p:guideLst>
        <p:guide orient="horz" pos="10368"/>
        <p:guide pos="1612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40480" y="10226042"/>
            <a:ext cx="43525440" cy="7056120"/>
          </a:xfrm>
        </p:spPr>
        <p:txBody>
          <a:bodyPr/>
          <a:lstStyle/>
          <a:p>
            <a:r>
              <a:rPr lang="en-US"/>
              <a:t>Click to edit Master title style</a:t>
            </a:r>
          </a:p>
        </p:txBody>
      </p:sp>
      <p:sp>
        <p:nvSpPr>
          <p:cNvPr id="3" name="Subtitle 2"/>
          <p:cNvSpPr>
            <a:spLocks noGrp="1"/>
          </p:cNvSpPr>
          <p:nvPr>
            <p:ph type="subTitle" idx="1"/>
          </p:nvPr>
        </p:nvSpPr>
        <p:spPr>
          <a:xfrm>
            <a:off x="7680960" y="18653760"/>
            <a:ext cx="35844480" cy="8412480"/>
          </a:xfrm>
        </p:spPr>
        <p:txBody>
          <a:bodyPr/>
          <a:lstStyle>
            <a:lvl1pPr marL="0" indent="0" algn="ctr">
              <a:buNone/>
              <a:defRPr>
                <a:solidFill>
                  <a:schemeClr val="tx1">
                    <a:tint val="75000"/>
                  </a:schemeClr>
                </a:solidFill>
              </a:defRPr>
            </a:lvl1pPr>
            <a:lvl2pPr marL="2403546" indent="0" algn="ctr">
              <a:buNone/>
              <a:defRPr>
                <a:solidFill>
                  <a:schemeClr val="tx1">
                    <a:tint val="75000"/>
                  </a:schemeClr>
                </a:solidFill>
              </a:defRPr>
            </a:lvl2pPr>
            <a:lvl3pPr marL="4807092" indent="0" algn="ctr">
              <a:buNone/>
              <a:defRPr>
                <a:solidFill>
                  <a:schemeClr val="tx1">
                    <a:tint val="75000"/>
                  </a:schemeClr>
                </a:solidFill>
              </a:defRPr>
            </a:lvl3pPr>
            <a:lvl4pPr marL="7210638" indent="0" algn="ctr">
              <a:buNone/>
              <a:defRPr>
                <a:solidFill>
                  <a:schemeClr val="tx1">
                    <a:tint val="75000"/>
                  </a:schemeClr>
                </a:solidFill>
              </a:defRPr>
            </a:lvl4pPr>
            <a:lvl5pPr marL="9614184" indent="0" algn="ctr">
              <a:buNone/>
              <a:defRPr>
                <a:solidFill>
                  <a:schemeClr val="tx1">
                    <a:tint val="75000"/>
                  </a:schemeClr>
                </a:solidFill>
              </a:defRPr>
            </a:lvl5pPr>
            <a:lvl6pPr marL="12017731" indent="0" algn="ctr">
              <a:buNone/>
              <a:defRPr>
                <a:solidFill>
                  <a:schemeClr val="tx1">
                    <a:tint val="75000"/>
                  </a:schemeClr>
                </a:solidFill>
              </a:defRPr>
            </a:lvl6pPr>
            <a:lvl7pPr marL="14421277" indent="0" algn="ctr">
              <a:buNone/>
              <a:defRPr>
                <a:solidFill>
                  <a:schemeClr val="tx1">
                    <a:tint val="75000"/>
                  </a:schemeClr>
                </a:solidFill>
              </a:defRPr>
            </a:lvl7pPr>
            <a:lvl8pPr marL="16824823" indent="0" algn="ctr">
              <a:buNone/>
              <a:defRPr>
                <a:solidFill>
                  <a:schemeClr val="tx1">
                    <a:tint val="75000"/>
                  </a:schemeClr>
                </a:solidFill>
              </a:defRPr>
            </a:lvl8pPr>
            <a:lvl9pPr marL="1922836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44953" y="21153122"/>
            <a:ext cx="43525440" cy="6537960"/>
          </a:xfrm>
        </p:spPr>
        <p:txBody>
          <a:bodyPr anchor="t"/>
          <a:lstStyle>
            <a:lvl1pPr algn="l">
              <a:defRPr sz="21000" b="1" cap="all"/>
            </a:lvl1pPr>
          </a:lstStyle>
          <a:p>
            <a:r>
              <a:rPr lang="en-US"/>
              <a:t>Click to edit Master title style</a:t>
            </a:r>
          </a:p>
        </p:txBody>
      </p:sp>
      <p:sp>
        <p:nvSpPr>
          <p:cNvPr id="3" name="Text Placeholder 2"/>
          <p:cNvSpPr>
            <a:spLocks noGrp="1"/>
          </p:cNvSpPr>
          <p:nvPr>
            <p:ph type="body" idx="1"/>
          </p:nvPr>
        </p:nvSpPr>
        <p:spPr>
          <a:xfrm>
            <a:off x="4044953" y="13952225"/>
            <a:ext cx="43525440" cy="7200898"/>
          </a:xfrm>
        </p:spPr>
        <p:txBody>
          <a:bodyPr anchor="b"/>
          <a:lstStyle>
            <a:lvl1pPr marL="0" indent="0">
              <a:buNone/>
              <a:defRPr sz="10500">
                <a:solidFill>
                  <a:schemeClr val="tx1">
                    <a:tint val="75000"/>
                  </a:schemeClr>
                </a:solidFill>
              </a:defRPr>
            </a:lvl1pPr>
            <a:lvl2pPr marL="2403546" indent="0">
              <a:buNone/>
              <a:defRPr sz="9500">
                <a:solidFill>
                  <a:schemeClr val="tx1">
                    <a:tint val="75000"/>
                  </a:schemeClr>
                </a:solidFill>
              </a:defRPr>
            </a:lvl2pPr>
            <a:lvl3pPr marL="4807092" indent="0">
              <a:buNone/>
              <a:defRPr sz="8400">
                <a:solidFill>
                  <a:schemeClr val="tx1">
                    <a:tint val="75000"/>
                  </a:schemeClr>
                </a:solidFill>
              </a:defRPr>
            </a:lvl3pPr>
            <a:lvl4pPr marL="7210638" indent="0">
              <a:buNone/>
              <a:defRPr sz="7400">
                <a:solidFill>
                  <a:schemeClr val="tx1">
                    <a:tint val="75000"/>
                  </a:schemeClr>
                </a:solidFill>
              </a:defRPr>
            </a:lvl4pPr>
            <a:lvl5pPr marL="9614184" indent="0">
              <a:buNone/>
              <a:defRPr sz="7400">
                <a:solidFill>
                  <a:schemeClr val="tx1">
                    <a:tint val="75000"/>
                  </a:schemeClr>
                </a:solidFill>
              </a:defRPr>
            </a:lvl5pPr>
            <a:lvl6pPr marL="12017731" indent="0">
              <a:buNone/>
              <a:defRPr sz="7400">
                <a:solidFill>
                  <a:schemeClr val="tx1">
                    <a:tint val="75000"/>
                  </a:schemeClr>
                </a:solidFill>
              </a:defRPr>
            </a:lvl6pPr>
            <a:lvl7pPr marL="14421277" indent="0">
              <a:buNone/>
              <a:defRPr sz="7400">
                <a:solidFill>
                  <a:schemeClr val="tx1">
                    <a:tint val="75000"/>
                  </a:schemeClr>
                </a:solidFill>
              </a:defRPr>
            </a:lvl7pPr>
            <a:lvl8pPr marL="16824823" indent="0">
              <a:buNone/>
              <a:defRPr sz="7400">
                <a:solidFill>
                  <a:schemeClr val="tx1">
                    <a:tint val="75000"/>
                  </a:schemeClr>
                </a:solidFill>
              </a:defRPr>
            </a:lvl8pPr>
            <a:lvl9pPr marL="19228369" indent="0">
              <a:buNone/>
              <a:defRPr sz="7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60320" y="7680963"/>
            <a:ext cx="22616160" cy="21724622"/>
          </a:xfrm>
        </p:spPr>
        <p:txBody>
          <a:bodyPr/>
          <a:lstStyle>
            <a:lvl1pPr>
              <a:defRPr sz="14700"/>
            </a:lvl1pPr>
            <a:lvl2pPr>
              <a:defRPr sz="12600"/>
            </a:lvl2pPr>
            <a:lvl3pPr>
              <a:defRPr sz="10500"/>
            </a:lvl3pPr>
            <a:lvl4pPr>
              <a:defRPr sz="9500"/>
            </a:lvl4pPr>
            <a:lvl5pPr>
              <a:defRPr sz="9500"/>
            </a:lvl5pPr>
            <a:lvl6pPr>
              <a:defRPr sz="9500"/>
            </a:lvl6pPr>
            <a:lvl7pPr>
              <a:defRPr sz="9500"/>
            </a:lvl7pPr>
            <a:lvl8pPr>
              <a:defRPr sz="9500"/>
            </a:lvl8pPr>
            <a:lvl9pPr>
              <a:defRPr sz="9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029920" y="7680963"/>
            <a:ext cx="22616160" cy="21724622"/>
          </a:xfrm>
        </p:spPr>
        <p:txBody>
          <a:bodyPr/>
          <a:lstStyle>
            <a:lvl1pPr>
              <a:defRPr sz="14700"/>
            </a:lvl1pPr>
            <a:lvl2pPr>
              <a:defRPr sz="12600"/>
            </a:lvl2pPr>
            <a:lvl3pPr>
              <a:defRPr sz="10500"/>
            </a:lvl3pPr>
            <a:lvl4pPr>
              <a:defRPr sz="9500"/>
            </a:lvl4pPr>
            <a:lvl5pPr>
              <a:defRPr sz="9500"/>
            </a:lvl5pPr>
            <a:lvl6pPr>
              <a:defRPr sz="9500"/>
            </a:lvl6pPr>
            <a:lvl7pPr>
              <a:defRPr sz="9500"/>
            </a:lvl7pPr>
            <a:lvl8pPr>
              <a:defRPr sz="9500"/>
            </a:lvl8pPr>
            <a:lvl9pPr>
              <a:defRPr sz="9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560320" y="7368542"/>
            <a:ext cx="22625053" cy="3070858"/>
          </a:xfrm>
        </p:spPr>
        <p:txBody>
          <a:bodyPr anchor="b"/>
          <a:lstStyle>
            <a:lvl1pPr marL="0" indent="0">
              <a:buNone/>
              <a:defRPr sz="12600" b="1"/>
            </a:lvl1pPr>
            <a:lvl2pPr marL="2403546" indent="0">
              <a:buNone/>
              <a:defRPr sz="10500" b="1"/>
            </a:lvl2pPr>
            <a:lvl3pPr marL="4807092" indent="0">
              <a:buNone/>
              <a:defRPr sz="9500" b="1"/>
            </a:lvl3pPr>
            <a:lvl4pPr marL="7210638" indent="0">
              <a:buNone/>
              <a:defRPr sz="8400" b="1"/>
            </a:lvl4pPr>
            <a:lvl5pPr marL="9614184" indent="0">
              <a:buNone/>
              <a:defRPr sz="8400" b="1"/>
            </a:lvl5pPr>
            <a:lvl6pPr marL="12017731" indent="0">
              <a:buNone/>
              <a:defRPr sz="8400" b="1"/>
            </a:lvl6pPr>
            <a:lvl7pPr marL="14421277" indent="0">
              <a:buNone/>
              <a:defRPr sz="8400" b="1"/>
            </a:lvl7pPr>
            <a:lvl8pPr marL="16824823" indent="0">
              <a:buNone/>
              <a:defRPr sz="8400" b="1"/>
            </a:lvl8pPr>
            <a:lvl9pPr marL="19228369" indent="0">
              <a:buNone/>
              <a:defRPr sz="8400" b="1"/>
            </a:lvl9pPr>
          </a:lstStyle>
          <a:p>
            <a:pPr lvl="0"/>
            <a:r>
              <a:rPr lang="en-US"/>
              <a:t>Click to edit Master text styles</a:t>
            </a:r>
          </a:p>
        </p:txBody>
      </p:sp>
      <p:sp>
        <p:nvSpPr>
          <p:cNvPr id="4" name="Content Placeholder 3"/>
          <p:cNvSpPr>
            <a:spLocks noGrp="1"/>
          </p:cNvSpPr>
          <p:nvPr>
            <p:ph sz="half" idx="2"/>
          </p:nvPr>
        </p:nvSpPr>
        <p:spPr>
          <a:xfrm>
            <a:off x="2560320" y="10439400"/>
            <a:ext cx="22625053" cy="18966182"/>
          </a:xfrm>
        </p:spPr>
        <p:txBody>
          <a:bodyPr/>
          <a:lstStyle>
            <a:lvl1pPr>
              <a:defRPr sz="12600"/>
            </a:lvl1pPr>
            <a:lvl2pPr>
              <a:defRPr sz="10500"/>
            </a:lvl2pPr>
            <a:lvl3pPr>
              <a:defRPr sz="950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6012143" y="7368542"/>
            <a:ext cx="22633940" cy="3070858"/>
          </a:xfrm>
        </p:spPr>
        <p:txBody>
          <a:bodyPr anchor="b"/>
          <a:lstStyle>
            <a:lvl1pPr marL="0" indent="0">
              <a:buNone/>
              <a:defRPr sz="12600" b="1"/>
            </a:lvl1pPr>
            <a:lvl2pPr marL="2403546" indent="0">
              <a:buNone/>
              <a:defRPr sz="10500" b="1"/>
            </a:lvl2pPr>
            <a:lvl3pPr marL="4807092" indent="0">
              <a:buNone/>
              <a:defRPr sz="9500" b="1"/>
            </a:lvl3pPr>
            <a:lvl4pPr marL="7210638" indent="0">
              <a:buNone/>
              <a:defRPr sz="8400" b="1"/>
            </a:lvl4pPr>
            <a:lvl5pPr marL="9614184" indent="0">
              <a:buNone/>
              <a:defRPr sz="8400" b="1"/>
            </a:lvl5pPr>
            <a:lvl6pPr marL="12017731" indent="0">
              <a:buNone/>
              <a:defRPr sz="8400" b="1"/>
            </a:lvl6pPr>
            <a:lvl7pPr marL="14421277" indent="0">
              <a:buNone/>
              <a:defRPr sz="8400" b="1"/>
            </a:lvl7pPr>
            <a:lvl8pPr marL="16824823" indent="0">
              <a:buNone/>
              <a:defRPr sz="8400" b="1"/>
            </a:lvl8pPr>
            <a:lvl9pPr marL="19228369" indent="0">
              <a:buNone/>
              <a:defRPr sz="8400" b="1"/>
            </a:lvl9pPr>
          </a:lstStyle>
          <a:p>
            <a:pPr lvl="0"/>
            <a:r>
              <a:rPr lang="en-US"/>
              <a:t>Click to edit Master text styles</a:t>
            </a:r>
          </a:p>
        </p:txBody>
      </p:sp>
      <p:sp>
        <p:nvSpPr>
          <p:cNvPr id="6" name="Content Placeholder 5"/>
          <p:cNvSpPr>
            <a:spLocks noGrp="1"/>
          </p:cNvSpPr>
          <p:nvPr>
            <p:ph sz="quarter" idx="4"/>
          </p:nvPr>
        </p:nvSpPr>
        <p:spPr>
          <a:xfrm>
            <a:off x="26012143" y="10439400"/>
            <a:ext cx="22633940" cy="18966182"/>
          </a:xfrm>
        </p:spPr>
        <p:txBody>
          <a:bodyPr/>
          <a:lstStyle>
            <a:lvl1pPr>
              <a:defRPr sz="12600"/>
            </a:lvl1pPr>
            <a:lvl2pPr>
              <a:defRPr sz="10500"/>
            </a:lvl2pPr>
            <a:lvl3pPr>
              <a:defRPr sz="950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3" y="1310640"/>
            <a:ext cx="16846553" cy="5577840"/>
          </a:xfrm>
        </p:spPr>
        <p:txBody>
          <a:bodyPr anchor="b"/>
          <a:lstStyle>
            <a:lvl1pPr algn="l">
              <a:defRPr sz="10500" b="1"/>
            </a:lvl1pPr>
          </a:lstStyle>
          <a:p>
            <a:r>
              <a:rPr lang="en-US"/>
              <a:t>Click to edit Master title style</a:t>
            </a:r>
          </a:p>
        </p:txBody>
      </p:sp>
      <p:sp>
        <p:nvSpPr>
          <p:cNvPr id="3" name="Content Placeholder 2"/>
          <p:cNvSpPr>
            <a:spLocks noGrp="1"/>
          </p:cNvSpPr>
          <p:nvPr>
            <p:ph idx="1"/>
          </p:nvPr>
        </p:nvSpPr>
        <p:spPr>
          <a:xfrm>
            <a:off x="20020280" y="1310643"/>
            <a:ext cx="28625800" cy="28094942"/>
          </a:xfrm>
        </p:spPr>
        <p:txBody>
          <a:bodyPr/>
          <a:lstStyle>
            <a:lvl1pPr>
              <a:defRPr sz="16800"/>
            </a:lvl1pPr>
            <a:lvl2pPr>
              <a:defRPr sz="14700"/>
            </a:lvl2pPr>
            <a:lvl3pPr>
              <a:defRPr sz="12600"/>
            </a:lvl3pPr>
            <a:lvl4pPr>
              <a:defRPr sz="10500"/>
            </a:lvl4pPr>
            <a:lvl5pPr>
              <a:defRPr sz="10500"/>
            </a:lvl5pPr>
            <a:lvl6pPr>
              <a:defRPr sz="10500"/>
            </a:lvl6pPr>
            <a:lvl7pPr>
              <a:defRPr sz="10500"/>
            </a:lvl7pPr>
            <a:lvl8pPr>
              <a:defRPr sz="10500"/>
            </a:lvl8pPr>
            <a:lvl9pPr>
              <a:defRPr sz="10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3" y="6888483"/>
            <a:ext cx="16846553" cy="22517102"/>
          </a:xfrm>
        </p:spPr>
        <p:txBody>
          <a:bodyPr/>
          <a:lstStyle>
            <a:lvl1pPr marL="0" indent="0">
              <a:buNone/>
              <a:defRPr sz="7400"/>
            </a:lvl1pPr>
            <a:lvl2pPr marL="2403546" indent="0">
              <a:buNone/>
              <a:defRPr sz="6300"/>
            </a:lvl2pPr>
            <a:lvl3pPr marL="4807092" indent="0">
              <a:buNone/>
              <a:defRPr sz="5300"/>
            </a:lvl3pPr>
            <a:lvl4pPr marL="7210638" indent="0">
              <a:buNone/>
              <a:defRPr sz="4700"/>
            </a:lvl4pPr>
            <a:lvl5pPr marL="9614184" indent="0">
              <a:buNone/>
              <a:defRPr sz="4700"/>
            </a:lvl5pPr>
            <a:lvl6pPr marL="12017731" indent="0">
              <a:buNone/>
              <a:defRPr sz="4700"/>
            </a:lvl6pPr>
            <a:lvl7pPr marL="14421277" indent="0">
              <a:buNone/>
              <a:defRPr sz="4700"/>
            </a:lvl7pPr>
            <a:lvl8pPr marL="16824823" indent="0">
              <a:buNone/>
              <a:defRPr sz="4700"/>
            </a:lvl8pPr>
            <a:lvl9pPr marL="19228369" indent="0">
              <a:buNone/>
              <a:defRPr sz="4700"/>
            </a:lvl9pPr>
          </a:lstStyle>
          <a:p>
            <a:pPr lvl="0"/>
            <a:r>
              <a:rPr lang="en-US"/>
              <a:t>Click to edit Master text styles</a:t>
            </a:r>
          </a:p>
        </p:txBody>
      </p:sp>
      <p:sp>
        <p:nvSpPr>
          <p:cNvPr id="5" name="Date Placeholder 4"/>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36813" y="23042880"/>
            <a:ext cx="30723840" cy="2720342"/>
          </a:xfrm>
        </p:spPr>
        <p:txBody>
          <a:bodyPr anchor="b"/>
          <a:lstStyle>
            <a:lvl1pPr algn="l">
              <a:defRPr sz="10500" b="1"/>
            </a:lvl1pPr>
          </a:lstStyle>
          <a:p>
            <a:r>
              <a:rPr lang="en-US"/>
              <a:t>Click to edit Master title style</a:t>
            </a:r>
          </a:p>
        </p:txBody>
      </p:sp>
      <p:sp>
        <p:nvSpPr>
          <p:cNvPr id="3" name="Picture Placeholder 2"/>
          <p:cNvSpPr>
            <a:spLocks noGrp="1"/>
          </p:cNvSpPr>
          <p:nvPr>
            <p:ph type="pic" idx="1"/>
          </p:nvPr>
        </p:nvSpPr>
        <p:spPr>
          <a:xfrm>
            <a:off x="10036813" y="2941320"/>
            <a:ext cx="30723840" cy="19751040"/>
          </a:xfrm>
        </p:spPr>
        <p:txBody>
          <a:bodyPr/>
          <a:lstStyle>
            <a:lvl1pPr marL="0" indent="0">
              <a:buNone/>
              <a:defRPr sz="16800"/>
            </a:lvl1pPr>
            <a:lvl2pPr marL="2403546" indent="0">
              <a:buNone/>
              <a:defRPr sz="14700"/>
            </a:lvl2pPr>
            <a:lvl3pPr marL="4807092" indent="0">
              <a:buNone/>
              <a:defRPr sz="12600"/>
            </a:lvl3pPr>
            <a:lvl4pPr marL="7210638" indent="0">
              <a:buNone/>
              <a:defRPr sz="10500"/>
            </a:lvl4pPr>
            <a:lvl5pPr marL="9614184" indent="0">
              <a:buNone/>
              <a:defRPr sz="10500"/>
            </a:lvl5pPr>
            <a:lvl6pPr marL="12017731" indent="0">
              <a:buNone/>
              <a:defRPr sz="10500"/>
            </a:lvl6pPr>
            <a:lvl7pPr marL="14421277" indent="0">
              <a:buNone/>
              <a:defRPr sz="10500"/>
            </a:lvl7pPr>
            <a:lvl8pPr marL="16824823" indent="0">
              <a:buNone/>
              <a:defRPr sz="10500"/>
            </a:lvl8pPr>
            <a:lvl9pPr marL="19228369" indent="0">
              <a:buNone/>
              <a:defRPr sz="10500"/>
            </a:lvl9pPr>
          </a:lstStyle>
          <a:p>
            <a:endParaRPr lang="en-US"/>
          </a:p>
        </p:txBody>
      </p:sp>
      <p:sp>
        <p:nvSpPr>
          <p:cNvPr id="4" name="Text Placeholder 3"/>
          <p:cNvSpPr>
            <a:spLocks noGrp="1"/>
          </p:cNvSpPr>
          <p:nvPr>
            <p:ph type="body" sz="half" idx="2"/>
          </p:nvPr>
        </p:nvSpPr>
        <p:spPr>
          <a:xfrm>
            <a:off x="10036813" y="25763222"/>
            <a:ext cx="30723840" cy="3863338"/>
          </a:xfrm>
        </p:spPr>
        <p:txBody>
          <a:bodyPr/>
          <a:lstStyle>
            <a:lvl1pPr marL="0" indent="0">
              <a:buNone/>
              <a:defRPr sz="7400"/>
            </a:lvl1pPr>
            <a:lvl2pPr marL="2403546" indent="0">
              <a:buNone/>
              <a:defRPr sz="6300"/>
            </a:lvl2pPr>
            <a:lvl3pPr marL="4807092" indent="0">
              <a:buNone/>
              <a:defRPr sz="5300"/>
            </a:lvl3pPr>
            <a:lvl4pPr marL="7210638" indent="0">
              <a:buNone/>
              <a:defRPr sz="4700"/>
            </a:lvl4pPr>
            <a:lvl5pPr marL="9614184" indent="0">
              <a:buNone/>
              <a:defRPr sz="4700"/>
            </a:lvl5pPr>
            <a:lvl6pPr marL="12017731" indent="0">
              <a:buNone/>
              <a:defRPr sz="4700"/>
            </a:lvl6pPr>
            <a:lvl7pPr marL="14421277" indent="0">
              <a:buNone/>
              <a:defRPr sz="4700"/>
            </a:lvl7pPr>
            <a:lvl8pPr marL="16824823" indent="0">
              <a:buNone/>
              <a:defRPr sz="4700"/>
            </a:lvl8pPr>
            <a:lvl9pPr marL="19228369" indent="0">
              <a:buNone/>
              <a:defRPr sz="4700"/>
            </a:lvl9pPr>
          </a:lstStyle>
          <a:p>
            <a:pPr lvl="0"/>
            <a:r>
              <a:rPr lang="en-US"/>
              <a:t>Click to edit Master text styles</a:t>
            </a:r>
          </a:p>
        </p:txBody>
      </p:sp>
      <p:sp>
        <p:nvSpPr>
          <p:cNvPr id="5" name="Date Placeholder 4"/>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124640" y="1318265"/>
            <a:ext cx="1152144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60320" y="1318265"/>
            <a:ext cx="3371088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6250D1-D96A-1849-87B9-1AABDD2E4612}"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FE063-3AAD-C14A-807D-DB893C2A91A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60320" y="1318262"/>
            <a:ext cx="46085760" cy="5486400"/>
          </a:xfrm>
          <a:prstGeom prst="rect">
            <a:avLst/>
          </a:prstGeom>
        </p:spPr>
        <p:txBody>
          <a:bodyPr vert="horz" lIns="480709" tIns="240355" rIns="480709" bIns="240355" rtlCol="0" anchor="ctr">
            <a:normAutofit/>
          </a:bodyPr>
          <a:lstStyle/>
          <a:p>
            <a:r>
              <a:rPr lang="en-US"/>
              <a:t>Click to edit Master title style</a:t>
            </a:r>
          </a:p>
        </p:txBody>
      </p:sp>
      <p:sp>
        <p:nvSpPr>
          <p:cNvPr id="3" name="Text Placeholder 2"/>
          <p:cNvSpPr>
            <a:spLocks noGrp="1"/>
          </p:cNvSpPr>
          <p:nvPr>
            <p:ph type="body" idx="1"/>
          </p:nvPr>
        </p:nvSpPr>
        <p:spPr>
          <a:xfrm>
            <a:off x="2560320" y="7680963"/>
            <a:ext cx="46085760" cy="21724622"/>
          </a:xfrm>
          <a:prstGeom prst="rect">
            <a:avLst/>
          </a:prstGeom>
        </p:spPr>
        <p:txBody>
          <a:bodyPr vert="horz" lIns="480709" tIns="240355" rIns="480709" bIns="24035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60320" y="30510482"/>
            <a:ext cx="11948160" cy="1752600"/>
          </a:xfrm>
          <a:prstGeom prst="rect">
            <a:avLst/>
          </a:prstGeom>
        </p:spPr>
        <p:txBody>
          <a:bodyPr vert="horz" lIns="480709" tIns="240355" rIns="480709" bIns="240355" rtlCol="0" anchor="ctr"/>
          <a:lstStyle>
            <a:lvl1pPr algn="l">
              <a:defRPr sz="6300">
                <a:solidFill>
                  <a:schemeClr val="tx1">
                    <a:tint val="75000"/>
                  </a:schemeClr>
                </a:solidFill>
              </a:defRPr>
            </a:lvl1pPr>
          </a:lstStyle>
          <a:p>
            <a:fld id="{AA6250D1-D96A-1849-87B9-1AABDD2E4612}" type="datetimeFigureOut">
              <a:rPr lang="en-US" smtClean="0"/>
              <a:pPr/>
              <a:t>12/12/2025</a:t>
            </a:fld>
            <a:endParaRPr lang="en-US"/>
          </a:p>
        </p:txBody>
      </p:sp>
      <p:sp>
        <p:nvSpPr>
          <p:cNvPr id="5" name="Footer Placeholder 4"/>
          <p:cNvSpPr>
            <a:spLocks noGrp="1"/>
          </p:cNvSpPr>
          <p:nvPr>
            <p:ph type="ftr" sz="quarter" idx="3"/>
          </p:nvPr>
        </p:nvSpPr>
        <p:spPr>
          <a:xfrm>
            <a:off x="17495520" y="30510482"/>
            <a:ext cx="16215360" cy="1752600"/>
          </a:xfrm>
          <a:prstGeom prst="rect">
            <a:avLst/>
          </a:prstGeom>
        </p:spPr>
        <p:txBody>
          <a:bodyPr vert="horz" lIns="480709" tIns="240355" rIns="480709" bIns="240355" rtlCol="0" anchor="ctr"/>
          <a:lstStyle>
            <a:lvl1pPr algn="ctr">
              <a:defRPr sz="6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6697920" y="30510482"/>
            <a:ext cx="11948160" cy="1752600"/>
          </a:xfrm>
          <a:prstGeom prst="rect">
            <a:avLst/>
          </a:prstGeom>
        </p:spPr>
        <p:txBody>
          <a:bodyPr vert="horz" lIns="480709" tIns="240355" rIns="480709" bIns="240355" rtlCol="0" anchor="ctr"/>
          <a:lstStyle>
            <a:lvl1pPr algn="r">
              <a:defRPr sz="6300">
                <a:solidFill>
                  <a:schemeClr val="tx1">
                    <a:tint val="75000"/>
                  </a:schemeClr>
                </a:solidFill>
              </a:defRPr>
            </a:lvl1pPr>
          </a:lstStyle>
          <a:p>
            <a:fld id="{3BFFE063-3AAD-C14A-807D-DB893C2A91A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403546" rtl="0" eaLnBrk="1" latinLnBrk="0" hangingPunct="1">
        <a:spcBef>
          <a:spcPct val="0"/>
        </a:spcBef>
        <a:buNone/>
        <a:defRPr sz="23100" kern="1200">
          <a:solidFill>
            <a:schemeClr val="tx1"/>
          </a:solidFill>
          <a:latin typeface="+mj-lt"/>
          <a:ea typeface="+mj-ea"/>
          <a:cs typeface="+mj-cs"/>
        </a:defRPr>
      </a:lvl1pPr>
    </p:titleStyle>
    <p:bodyStyle>
      <a:lvl1pPr marL="1802660" indent="-1802660" algn="l" defTabSz="2403546" rtl="0" eaLnBrk="1" latinLnBrk="0" hangingPunct="1">
        <a:spcBef>
          <a:spcPct val="20000"/>
        </a:spcBef>
        <a:buFont typeface="Arial"/>
        <a:buChar char="•"/>
        <a:defRPr sz="16800" kern="1200">
          <a:solidFill>
            <a:schemeClr val="tx1"/>
          </a:solidFill>
          <a:latin typeface="+mn-lt"/>
          <a:ea typeface="+mn-ea"/>
          <a:cs typeface="+mn-cs"/>
        </a:defRPr>
      </a:lvl1pPr>
      <a:lvl2pPr marL="3905762" indent="-1502216" algn="l" defTabSz="2403546" rtl="0" eaLnBrk="1" latinLnBrk="0" hangingPunct="1">
        <a:spcBef>
          <a:spcPct val="20000"/>
        </a:spcBef>
        <a:buFont typeface="Arial"/>
        <a:buChar char="–"/>
        <a:defRPr sz="14700" kern="1200">
          <a:solidFill>
            <a:schemeClr val="tx1"/>
          </a:solidFill>
          <a:latin typeface="+mn-lt"/>
          <a:ea typeface="+mn-ea"/>
          <a:cs typeface="+mn-cs"/>
        </a:defRPr>
      </a:lvl2pPr>
      <a:lvl3pPr marL="6008865" indent="-1201773" algn="l" defTabSz="2403546" rtl="0" eaLnBrk="1" latinLnBrk="0" hangingPunct="1">
        <a:spcBef>
          <a:spcPct val="20000"/>
        </a:spcBef>
        <a:buFont typeface="Arial"/>
        <a:buChar char="•"/>
        <a:defRPr sz="12600" kern="1200">
          <a:solidFill>
            <a:schemeClr val="tx1"/>
          </a:solidFill>
          <a:latin typeface="+mn-lt"/>
          <a:ea typeface="+mn-ea"/>
          <a:cs typeface="+mn-cs"/>
        </a:defRPr>
      </a:lvl3pPr>
      <a:lvl4pPr marL="8412411" indent="-1201773" algn="l" defTabSz="2403546" rtl="0" eaLnBrk="1" latinLnBrk="0" hangingPunct="1">
        <a:spcBef>
          <a:spcPct val="20000"/>
        </a:spcBef>
        <a:buFont typeface="Arial"/>
        <a:buChar char="–"/>
        <a:defRPr sz="10500" kern="1200">
          <a:solidFill>
            <a:schemeClr val="tx1"/>
          </a:solidFill>
          <a:latin typeface="+mn-lt"/>
          <a:ea typeface="+mn-ea"/>
          <a:cs typeface="+mn-cs"/>
        </a:defRPr>
      </a:lvl4pPr>
      <a:lvl5pPr marL="10815958" indent="-1201773" algn="l" defTabSz="2403546" rtl="0" eaLnBrk="1" latinLnBrk="0" hangingPunct="1">
        <a:spcBef>
          <a:spcPct val="20000"/>
        </a:spcBef>
        <a:buFont typeface="Arial"/>
        <a:buChar char="»"/>
        <a:defRPr sz="10500" kern="1200">
          <a:solidFill>
            <a:schemeClr val="tx1"/>
          </a:solidFill>
          <a:latin typeface="+mn-lt"/>
          <a:ea typeface="+mn-ea"/>
          <a:cs typeface="+mn-cs"/>
        </a:defRPr>
      </a:lvl5pPr>
      <a:lvl6pPr marL="13219504" indent="-1201773" algn="l" defTabSz="2403546" rtl="0" eaLnBrk="1" latinLnBrk="0" hangingPunct="1">
        <a:spcBef>
          <a:spcPct val="20000"/>
        </a:spcBef>
        <a:buFont typeface="Arial"/>
        <a:buChar char="•"/>
        <a:defRPr sz="10500" kern="1200">
          <a:solidFill>
            <a:schemeClr val="tx1"/>
          </a:solidFill>
          <a:latin typeface="+mn-lt"/>
          <a:ea typeface="+mn-ea"/>
          <a:cs typeface="+mn-cs"/>
        </a:defRPr>
      </a:lvl6pPr>
      <a:lvl7pPr marL="15623050" indent="-1201773" algn="l" defTabSz="2403546" rtl="0" eaLnBrk="1" latinLnBrk="0" hangingPunct="1">
        <a:spcBef>
          <a:spcPct val="20000"/>
        </a:spcBef>
        <a:buFont typeface="Arial"/>
        <a:buChar char="•"/>
        <a:defRPr sz="10500" kern="1200">
          <a:solidFill>
            <a:schemeClr val="tx1"/>
          </a:solidFill>
          <a:latin typeface="+mn-lt"/>
          <a:ea typeface="+mn-ea"/>
          <a:cs typeface="+mn-cs"/>
        </a:defRPr>
      </a:lvl7pPr>
      <a:lvl8pPr marL="18026596" indent="-1201773" algn="l" defTabSz="2403546" rtl="0" eaLnBrk="1" latinLnBrk="0" hangingPunct="1">
        <a:spcBef>
          <a:spcPct val="20000"/>
        </a:spcBef>
        <a:buFont typeface="Arial"/>
        <a:buChar char="•"/>
        <a:defRPr sz="10500" kern="1200">
          <a:solidFill>
            <a:schemeClr val="tx1"/>
          </a:solidFill>
          <a:latin typeface="+mn-lt"/>
          <a:ea typeface="+mn-ea"/>
          <a:cs typeface="+mn-cs"/>
        </a:defRPr>
      </a:lvl8pPr>
      <a:lvl9pPr marL="20430142" indent="-1201773" algn="l" defTabSz="2403546" rtl="0" eaLnBrk="1" latinLnBrk="0" hangingPunct="1">
        <a:spcBef>
          <a:spcPct val="20000"/>
        </a:spcBef>
        <a:buFont typeface="Arial"/>
        <a:buChar char="•"/>
        <a:defRPr sz="10500" kern="1200">
          <a:solidFill>
            <a:schemeClr val="tx1"/>
          </a:solidFill>
          <a:latin typeface="+mn-lt"/>
          <a:ea typeface="+mn-ea"/>
          <a:cs typeface="+mn-cs"/>
        </a:defRPr>
      </a:lvl9pPr>
    </p:bodyStyle>
    <p:otherStyle>
      <a:defPPr>
        <a:defRPr lang="en-US"/>
      </a:defPPr>
      <a:lvl1pPr marL="0" algn="l" defTabSz="2403546" rtl="0" eaLnBrk="1" latinLnBrk="0" hangingPunct="1">
        <a:defRPr sz="9500" kern="1200">
          <a:solidFill>
            <a:schemeClr val="tx1"/>
          </a:solidFill>
          <a:latin typeface="+mn-lt"/>
          <a:ea typeface="+mn-ea"/>
          <a:cs typeface="+mn-cs"/>
        </a:defRPr>
      </a:lvl1pPr>
      <a:lvl2pPr marL="2403546" algn="l" defTabSz="2403546" rtl="0" eaLnBrk="1" latinLnBrk="0" hangingPunct="1">
        <a:defRPr sz="9500" kern="1200">
          <a:solidFill>
            <a:schemeClr val="tx1"/>
          </a:solidFill>
          <a:latin typeface="+mn-lt"/>
          <a:ea typeface="+mn-ea"/>
          <a:cs typeface="+mn-cs"/>
        </a:defRPr>
      </a:lvl2pPr>
      <a:lvl3pPr marL="4807092" algn="l" defTabSz="2403546" rtl="0" eaLnBrk="1" latinLnBrk="0" hangingPunct="1">
        <a:defRPr sz="9500" kern="1200">
          <a:solidFill>
            <a:schemeClr val="tx1"/>
          </a:solidFill>
          <a:latin typeface="+mn-lt"/>
          <a:ea typeface="+mn-ea"/>
          <a:cs typeface="+mn-cs"/>
        </a:defRPr>
      </a:lvl3pPr>
      <a:lvl4pPr marL="7210638" algn="l" defTabSz="2403546" rtl="0" eaLnBrk="1" latinLnBrk="0" hangingPunct="1">
        <a:defRPr sz="9500" kern="1200">
          <a:solidFill>
            <a:schemeClr val="tx1"/>
          </a:solidFill>
          <a:latin typeface="+mn-lt"/>
          <a:ea typeface="+mn-ea"/>
          <a:cs typeface="+mn-cs"/>
        </a:defRPr>
      </a:lvl4pPr>
      <a:lvl5pPr marL="9614184" algn="l" defTabSz="2403546" rtl="0" eaLnBrk="1" latinLnBrk="0" hangingPunct="1">
        <a:defRPr sz="9500" kern="1200">
          <a:solidFill>
            <a:schemeClr val="tx1"/>
          </a:solidFill>
          <a:latin typeface="+mn-lt"/>
          <a:ea typeface="+mn-ea"/>
          <a:cs typeface="+mn-cs"/>
        </a:defRPr>
      </a:lvl5pPr>
      <a:lvl6pPr marL="12017731" algn="l" defTabSz="2403546" rtl="0" eaLnBrk="1" latinLnBrk="0" hangingPunct="1">
        <a:defRPr sz="9500" kern="1200">
          <a:solidFill>
            <a:schemeClr val="tx1"/>
          </a:solidFill>
          <a:latin typeface="+mn-lt"/>
          <a:ea typeface="+mn-ea"/>
          <a:cs typeface="+mn-cs"/>
        </a:defRPr>
      </a:lvl6pPr>
      <a:lvl7pPr marL="14421277" algn="l" defTabSz="2403546" rtl="0" eaLnBrk="1" latinLnBrk="0" hangingPunct="1">
        <a:defRPr sz="9500" kern="1200">
          <a:solidFill>
            <a:schemeClr val="tx1"/>
          </a:solidFill>
          <a:latin typeface="+mn-lt"/>
          <a:ea typeface="+mn-ea"/>
          <a:cs typeface="+mn-cs"/>
        </a:defRPr>
      </a:lvl7pPr>
      <a:lvl8pPr marL="16824823" algn="l" defTabSz="2403546" rtl="0" eaLnBrk="1" latinLnBrk="0" hangingPunct="1">
        <a:defRPr sz="9500" kern="1200">
          <a:solidFill>
            <a:schemeClr val="tx1"/>
          </a:solidFill>
          <a:latin typeface="+mn-lt"/>
          <a:ea typeface="+mn-ea"/>
          <a:cs typeface="+mn-cs"/>
        </a:defRPr>
      </a:lvl8pPr>
      <a:lvl9pPr marL="19228369" algn="l" defTabSz="2403546" rtl="0" eaLnBrk="1" latinLnBrk="0" hangingPunct="1">
        <a:defRPr sz="9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972800" y="2127459"/>
            <a:ext cx="29554200" cy="4801314"/>
          </a:xfrm>
          <a:prstGeom prst="rect">
            <a:avLst/>
          </a:prstGeom>
          <a:noFill/>
          <a:ln w="127000" cmpd="sng">
            <a:solidFill>
              <a:srgbClr val="FF0000"/>
            </a:solidFill>
          </a:ln>
        </p:spPr>
        <p:txBody>
          <a:bodyPr wrap="square" rtlCol="0" anchor="ctr">
            <a:spAutoFit/>
          </a:bodyPr>
          <a:lstStyle/>
          <a:p>
            <a:pPr algn="ctr"/>
            <a:r>
              <a:rPr lang="en-US" sz="7200" dirty="0">
                <a:latin typeface="Arial" panose="020B0604020202020204" pitchFamily="34" charset="0"/>
                <a:cs typeface="Arial" panose="020B0604020202020204" pitchFamily="34" charset="0"/>
              </a:rPr>
              <a:t>The Effects of Minimum Wage on Poverty Reduction. Evidence from U.S. State-Level Data (2010-2023)</a:t>
            </a:r>
          </a:p>
          <a:p>
            <a:pPr algn="ctr"/>
            <a:r>
              <a:rPr lang="en-US" sz="5400" dirty="0">
                <a:latin typeface="Arial" panose="020B0604020202020204" pitchFamily="34" charset="0"/>
                <a:cs typeface="Arial" panose="020B0604020202020204" pitchFamily="34" charset="0"/>
              </a:rPr>
              <a:t>Calvin Burzynski</a:t>
            </a:r>
          </a:p>
          <a:p>
            <a:pPr algn="ctr"/>
            <a:r>
              <a:rPr lang="en-US" sz="5400" dirty="0">
                <a:latin typeface="Arial" panose="020B0604020202020204" pitchFamily="34" charset="0"/>
                <a:cs typeface="Arial" panose="020B0604020202020204" pitchFamily="34" charset="0"/>
              </a:rPr>
              <a:t>Data Analytics</a:t>
            </a:r>
          </a:p>
          <a:p>
            <a:pPr algn="ctr"/>
            <a:r>
              <a:rPr lang="en-US" sz="5400" dirty="0">
                <a:latin typeface="Arial" panose="020B0604020202020204" pitchFamily="34" charset="0"/>
                <a:cs typeface="Arial" panose="020B0604020202020204" pitchFamily="34" charset="0"/>
              </a:rPr>
              <a:t>Research Advisor Dr. Zhe Wang</a:t>
            </a:r>
          </a:p>
        </p:txBody>
      </p:sp>
      <p:sp>
        <p:nvSpPr>
          <p:cNvPr id="5" name="TextBox 4"/>
          <p:cNvSpPr txBox="1"/>
          <p:nvPr/>
        </p:nvSpPr>
        <p:spPr>
          <a:xfrm>
            <a:off x="1140104" y="7802461"/>
            <a:ext cx="10410596" cy="9235440"/>
          </a:xfrm>
          <a:prstGeom prst="rect">
            <a:avLst/>
          </a:prstGeom>
          <a:noFill/>
          <a:ln w="127000" cmpd="sng">
            <a:solidFill>
              <a:srgbClr val="FF0000"/>
            </a:solidFill>
          </a:ln>
        </p:spPr>
        <p:txBody>
          <a:bodyPr wrap="square" lIns="274320" tIns="274320" rIns="274320" bIns="274320" rtlCol="0">
            <a:spAutoFit/>
          </a:bodyPr>
          <a:lstStyle/>
          <a:p>
            <a:pPr algn="ctr"/>
            <a:r>
              <a:rPr lang="en-US" sz="4400" dirty="0">
                <a:latin typeface="Times New Roman" panose="02020603050405020304" pitchFamily="18" charset="0"/>
                <a:cs typeface="Times New Roman" panose="02020603050405020304" pitchFamily="18" charset="0"/>
              </a:rPr>
              <a:t>Introduction</a:t>
            </a:r>
          </a:p>
          <a:p>
            <a:endParaRPr lang="en-US" sz="4400" dirty="0">
              <a:latin typeface="Arial"/>
              <a:cs typeface="Arial"/>
            </a:endParaRPr>
          </a:p>
          <a:p>
            <a:pPr marL="457200" indent="-457200">
              <a:buFont typeface="Arial" panose="020B0604020202020204" pitchFamily="34" charset="0"/>
              <a:buChar char="•"/>
            </a:pPr>
            <a:r>
              <a:rPr lang="en-US" sz="3000" dirty="0">
                <a:latin typeface="Times New Roman"/>
                <a:cs typeface="Times New Roman"/>
              </a:rPr>
              <a:t>Minimum wage policy is widely used as an anti-poverty tool, yet empirical evidence on its effectiveness remains mixed.</a:t>
            </a:r>
          </a:p>
          <a:p>
            <a:pPr marL="457200" indent="-457200">
              <a:buFont typeface="Arial" panose="020B0604020202020204" pitchFamily="34" charset="0"/>
              <a:buChar char="•"/>
            </a:pPr>
            <a:r>
              <a:rPr lang="en-US" sz="3000" dirty="0">
                <a:latin typeface="Times New Roman"/>
                <a:cs typeface="Times New Roman"/>
              </a:rPr>
              <a:t>Discussion around minimum wage policy suggests that it should be much higher as current rates fail to cover basic costs of living.</a:t>
            </a:r>
          </a:p>
          <a:p>
            <a:pPr marL="457200" indent="-457200">
              <a:buFont typeface="Arial" panose="020B0604020202020204" pitchFamily="34" charset="0"/>
              <a:buChar char="•"/>
            </a:pPr>
            <a:r>
              <a:rPr lang="en-US" sz="3000" dirty="0">
                <a:latin typeface="Times New Roman"/>
                <a:cs typeface="Times New Roman"/>
              </a:rPr>
              <a:t>Prior research finds that minimum wage increases often raise earnings at the bottom of the wage distribution, but effects on poverty are inconsistent and sensitive to how treatment outcomes are defined (Dube, Lester &amp; Reich, 2010).</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States adopt minimum wage increases at different times and magnitudes, creating variation that can be used to study policy impacts.</a:t>
            </a:r>
          </a:p>
          <a:p>
            <a:pPr marL="457200" indent="-457200">
              <a:buFont typeface="Arial" panose="020B0604020202020204" pitchFamily="34" charset="0"/>
              <a:buChar char="•"/>
            </a:pPr>
            <a:r>
              <a:rPr lang="en-US" sz="3000" dirty="0">
                <a:latin typeface="Times New Roman"/>
                <a:cs typeface="Times New Roman"/>
              </a:rPr>
              <a:t>This study aimed to investigate whether state-level minimum wage increases reduce poverty rates among full-time low-wage workers, using modern panel-data methods.</a:t>
            </a:r>
          </a:p>
          <a:p>
            <a:pPr marL="457200" indent="-457200">
              <a:buFont typeface="Arial" panose="020B0604020202020204" pitchFamily="34" charset="0"/>
              <a:buChar char="•"/>
            </a:pPr>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p:txBody>
      </p:sp>
      <p:sp>
        <p:nvSpPr>
          <p:cNvPr id="7" name="TextBox 6"/>
          <p:cNvSpPr txBox="1"/>
          <p:nvPr/>
        </p:nvSpPr>
        <p:spPr>
          <a:xfrm>
            <a:off x="12103828" y="7802461"/>
            <a:ext cx="14188647" cy="12311063"/>
          </a:xfrm>
          <a:prstGeom prst="rect">
            <a:avLst/>
          </a:prstGeom>
          <a:noFill/>
          <a:ln w="127000" cmpd="sng">
            <a:solidFill>
              <a:srgbClr val="FF0000"/>
            </a:solidFill>
          </a:ln>
        </p:spPr>
        <p:txBody>
          <a:bodyPr wrap="square" lIns="274320" tIns="274320" rIns="274320" bIns="274320" rtlCol="0">
            <a:spAutoFit/>
          </a:bodyPr>
          <a:lstStyle/>
          <a:p>
            <a:pPr algn="ctr"/>
            <a:r>
              <a:rPr lang="en-US" sz="4400" dirty="0">
                <a:latin typeface="Times New Roman" panose="02020603050405020304" pitchFamily="18" charset="0"/>
                <a:cs typeface="Times New Roman" panose="02020603050405020304" pitchFamily="18" charset="0"/>
              </a:rPr>
              <a:t>Results</a:t>
            </a:r>
          </a:p>
          <a:p>
            <a:pPr marL="457200" indent="-457200">
              <a:buFont typeface="Arial" panose="020B0604020202020204" pitchFamily="34" charset="0"/>
              <a:buChar char="•"/>
            </a:pPr>
            <a:endParaRPr lang="en-US" sz="3000" dirty="0">
              <a:ln>
                <a:solidFill>
                  <a:srgbClr val="008000"/>
                </a:solidFill>
              </a:ln>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Treated states begin the period with slightly higher poverty rates among full-time low-wage workers than control states, reflecting underlying differences in economic conditions prior to minimum wage increases.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Two-way fixed effects estimates indicate that the relationship between the real minimum wage and poverty is statistically indistinguishable from zero across specifications. </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Labor market conditions exhibit stronger associations with poverty than the minimum wage itself. </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SNAP participation is positively and statistically significant in the baseline specification, consistent with program targeting toward economically disadvantaged populations.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Demographic characteristics, including educational attainment and racial composition, display smaller and less precisely estimated effects, suggesting more limited explanatory power relative to labor market conditions.</a:t>
            </a:r>
          </a:p>
          <a:p>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Event-study results reinforce these findings. In the years leading up to a minimum wage increase, estimated coefficients are small and statistically indistinguishable from zero, indicating no evidence of differential pre-treatment trends between treated and control states. Following treatment, point estimates suggest modest declines in poverty; however, these effects are imprecisely estimated, with confidence intervals widening at longer horizons due to reduced sample sizes. Parallel trends diagnostics further support the identifying assumptions of the difference-in-differences framework, though the post-treatment results should be interpreted cautiously.</a:t>
            </a:r>
          </a:p>
        </p:txBody>
      </p:sp>
      <p:sp>
        <p:nvSpPr>
          <p:cNvPr id="9" name="TextBox 8"/>
          <p:cNvSpPr txBox="1"/>
          <p:nvPr/>
        </p:nvSpPr>
        <p:spPr>
          <a:xfrm>
            <a:off x="26845603" y="7802461"/>
            <a:ext cx="11077778" cy="21854160"/>
          </a:xfrm>
          <a:prstGeom prst="rect">
            <a:avLst/>
          </a:prstGeom>
          <a:noFill/>
          <a:ln w="127000" cmpd="sng">
            <a:solidFill>
              <a:srgbClr val="FF0000"/>
            </a:solidFill>
          </a:ln>
        </p:spPr>
        <p:txBody>
          <a:bodyPr wrap="square" lIns="274320" tIns="274320" rIns="274320" bIns="274320" rtlCol="0">
            <a:spAutoFit/>
          </a:bodyPr>
          <a:lstStyle/>
          <a:p>
            <a:pPr algn="ctr"/>
            <a:r>
              <a:rPr lang="en-US" sz="4400" dirty="0">
                <a:latin typeface="Times New Roman" panose="02020603050405020304" pitchFamily="18" charset="0"/>
                <a:cs typeface="Times New Roman" panose="02020603050405020304" pitchFamily="18" charset="0"/>
              </a:rPr>
              <a:t>Results</a:t>
            </a:r>
          </a:p>
          <a:p>
            <a:endParaRPr lang="en-US" sz="4400" dirty="0"/>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atin typeface="Times New Roman"/>
              <a:cs typeface="Times New Roman"/>
            </a:endParaRPr>
          </a:p>
          <a:p>
            <a:endParaRPr lang="en-US" sz="3200" dirty="0">
              <a:ln>
                <a:solidFill>
                  <a:srgbClr val="008000"/>
                </a:solidFill>
              </a:ln>
              <a:latin typeface="Times New Roman"/>
              <a:cs typeface="Times New Roman"/>
            </a:endParaRPr>
          </a:p>
          <a:p>
            <a:endParaRPr lang="en-US" sz="3200" dirty="0">
              <a:latin typeface="Times New Roman"/>
              <a:cs typeface="Times New Roman"/>
            </a:endParaRPr>
          </a:p>
        </p:txBody>
      </p:sp>
      <p:sp>
        <p:nvSpPr>
          <p:cNvPr id="17" name="TextBox 16"/>
          <p:cNvSpPr txBox="1"/>
          <p:nvPr/>
        </p:nvSpPr>
        <p:spPr>
          <a:xfrm>
            <a:off x="38470706" y="7774436"/>
            <a:ext cx="11842701" cy="18374261"/>
          </a:xfrm>
          <a:prstGeom prst="rect">
            <a:avLst/>
          </a:prstGeom>
          <a:noFill/>
          <a:ln w="127000" cap="flat" cmpd="sng" algn="ctr">
            <a:solidFill>
              <a:srgbClr val="FF0000"/>
            </a:solidFill>
            <a:prstDash val="solid"/>
            <a:round/>
            <a:headEnd type="none" w="med" len="med"/>
            <a:tailEnd type="none" w="med" len="med"/>
          </a:ln>
        </p:spPr>
        <p:txBody>
          <a:bodyPr wrap="square" lIns="274320" tIns="274320" rIns="274320" bIns="274320" rtlCol="0">
            <a:spAutoFit/>
          </a:bodyPr>
          <a:lstStyle/>
          <a:p>
            <a:pPr algn="ctr"/>
            <a:r>
              <a:rPr lang="en-US" sz="4400" dirty="0">
                <a:latin typeface="Times New Roman" panose="02020603050405020304" pitchFamily="18" charset="0"/>
                <a:cs typeface="Times New Roman" panose="02020603050405020304" pitchFamily="18" charset="0"/>
              </a:rPr>
              <a:t>Discussion</a:t>
            </a:r>
          </a:p>
          <a:p>
            <a:r>
              <a:rPr lang="en-US" sz="3000" dirty="0">
                <a:latin typeface="Times New Roman" panose="02020603050405020304" pitchFamily="18" charset="0"/>
                <a:cs typeface="Times New Roman" panose="02020603050405020304" pitchFamily="18" charset="0"/>
              </a:rPr>
              <a:t>- Do minimum wage increases reduce poverty?</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Across specifications, minimum wage increases are not associated with statistically precise reductions in poverty among full-time low-wage workers, suggesting that wage floors alone may be insufficient to lift workers above the poverty threshold. </a:t>
            </a:r>
          </a:p>
          <a:p>
            <a:r>
              <a:rPr lang="en-US" sz="3000" dirty="0">
                <a:latin typeface="Times New Roman" panose="02020603050405020304" pitchFamily="18" charset="0"/>
                <a:cs typeface="Times New Roman" panose="02020603050405020304" pitchFamily="18" charset="0"/>
              </a:rPr>
              <a:t>- Role of economic conditions:     </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Labor market factors, particularly unemployment, exhibit stronger and more consistent relationships with poverty than minimum wage levels</a:t>
            </a:r>
          </a:p>
          <a:p>
            <a:r>
              <a:rPr lang="en-US" sz="3000" dirty="0">
                <a:latin typeface="Times New Roman" panose="02020603050405020304" pitchFamily="18" charset="0"/>
                <a:cs typeface="Times New Roman" panose="02020603050405020304" pitchFamily="18" charset="0"/>
              </a:rPr>
              <a:t>- Program Participation:</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The positive association between SNAP participation and poverty likely reflects program targeting toward economically vulnerable populations. </a:t>
            </a:r>
          </a:p>
          <a:p>
            <a:r>
              <a:rPr lang="en-US" sz="3200" dirty="0">
                <a:latin typeface="Times New Roman" panose="02020603050405020304" pitchFamily="18" charset="0"/>
                <a:cs typeface="Times New Roman" panose="02020603050405020304" pitchFamily="18" charset="0"/>
              </a:rPr>
              <a:t>Limitations</a:t>
            </a:r>
          </a:p>
          <a:p>
            <a:r>
              <a:rPr lang="en-US" sz="3200" dirty="0">
                <a:latin typeface="Times New Roman" panose="02020603050405020304" pitchFamily="18" charset="0"/>
                <a:cs typeface="Times New Roman" panose="02020603050405020304" pitchFamily="18" charset="0"/>
              </a:rPr>
              <a:t>- Imprecision and limited post-treatment support</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Event-study estimates become increasingly imprecise at longer horizons, reflecting fewer treated observations and reduced statistical power.</a:t>
            </a:r>
          </a:p>
          <a:p>
            <a:r>
              <a:rPr lang="en-US" sz="3000" dirty="0">
                <a:latin typeface="Times New Roman" panose="02020603050405020304" pitchFamily="18" charset="0"/>
                <a:cs typeface="Times New Roman" panose="02020603050405020304" pitchFamily="18" charset="0"/>
              </a:rPr>
              <a:t>- Policy variation and scope</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State-level minimum wage increases vary in magnitude and timing, and many increases are modest relative to prevailing living costs. This limits the ability to detect large poverty effects.</a:t>
            </a:r>
          </a:p>
          <a:p>
            <a:endParaRPr lang="en-US" sz="3000" dirty="0">
              <a:latin typeface="Times New Roman" panose="02020603050405020304" pitchFamily="18" charset="0"/>
              <a:cs typeface="Times New Roman" panose="02020603050405020304" pitchFamily="18" charset="0"/>
            </a:endParaRPr>
          </a:p>
          <a:p>
            <a:pPr algn="ctr"/>
            <a:r>
              <a:rPr lang="en-US" sz="4400" dirty="0">
                <a:latin typeface="Times New Roman" panose="02020603050405020304" pitchFamily="18" charset="0"/>
                <a:cs typeface="Times New Roman" panose="02020603050405020304" pitchFamily="18" charset="0"/>
              </a:rPr>
              <a:t>Next Steps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Examine alternative poverty measures, including household-level or supplemental poverty thresholds, to better reflect income sharing and cost-of-living differences.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Incorporate local price or housing cost indices to assess whether minimum wage increases fail to keep pace with rising expenses.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Evaluate minimum wage policy alongside complementary anti-poverty programs, such as tax credits or employment subsidies.</a:t>
            </a:r>
          </a:p>
          <a:p>
            <a:pPr marL="457200" indent="-457200">
              <a:buFont typeface="Arial" panose="020B0604020202020204" pitchFamily="34" charset="0"/>
              <a:buChar char="•"/>
            </a:pPr>
            <a:endParaRPr lang="en-US" sz="30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pPr algn="ctr"/>
            <a:r>
              <a:rPr lang="en-US" sz="4400" dirty="0">
                <a:latin typeface="Times New Roman" panose="02020603050405020304" pitchFamily="18" charset="0"/>
                <a:cs typeface="Times New Roman" panose="02020603050405020304" pitchFamily="18" charset="0"/>
              </a:rPr>
              <a:t>Acknowledgements</a:t>
            </a:r>
            <a:endParaRPr lang="en-US" sz="32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I want to give special thanks to Dr. Wang for her guidance and support throughout this process. Additionally, I would like to thank the Data Analytics department for their teachings and help.</a:t>
            </a:r>
          </a:p>
        </p:txBody>
      </p:sp>
      <p:sp>
        <p:nvSpPr>
          <p:cNvPr id="18" name="TextBox 17"/>
          <p:cNvSpPr txBox="1"/>
          <p:nvPr/>
        </p:nvSpPr>
        <p:spPr>
          <a:xfrm>
            <a:off x="38470705" y="26602437"/>
            <a:ext cx="11842701" cy="5852160"/>
          </a:xfrm>
          <a:prstGeom prst="rect">
            <a:avLst/>
          </a:prstGeom>
          <a:noFill/>
          <a:ln w="127000" cmpd="sng">
            <a:solidFill>
              <a:srgbClr val="FF0000"/>
            </a:solidFill>
          </a:ln>
        </p:spPr>
        <p:txBody>
          <a:bodyPr wrap="square" lIns="274320" tIns="274320" rIns="274320" bIns="274320" rtlCol="0">
            <a:spAutoFit/>
          </a:bodyPr>
          <a:lstStyle/>
          <a:p>
            <a:pPr algn="ctr"/>
            <a:r>
              <a:rPr lang="en-US" sz="4400" dirty="0">
                <a:latin typeface="Times New Roman" panose="02020603050405020304" pitchFamily="18" charset="0"/>
                <a:cs typeface="Times New Roman" panose="02020603050405020304" pitchFamily="18" charset="0"/>
              </a:rPr>
              <a:t>Works Cited</a:t>
            </a:r>
          </a:p>
          <a:p>
            <a:r>
              <a:rPr lang="en-US" sz="2400" dirty="0">
                <a:latin typeface="Times New Roman" panose="02020603050405020304" pitchFamily="18" charset="0"/>
                <a:cs typeface="Times New Roman" panose="02020603050405020304" pitchFamily="18" charset="0"/>
              </a:rPr>
              <a:t>Bilinski, A., &amp; Hatfield, L. A. (2020). Nothing to see here? Non-inferiority approaches to parallel trends and other model assumptions. </a:t>
            </a:r>
            <a:r>
              <a:rPr lang="en-US" sz="2400" i="1" dirty="0" err="1">
                <a:latin typeface="Times New Roman" panose="02020603050405020304" pitchFamily="18" charset="0"/>
                <a:cs typeface="Times New Roman" panose="02020603050405020304" pitchFamily="18" charset="0"/>
              </a:rPr>
              <a:t>arXiv</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Callaway, B., &amp; Sant’Anna, P. H. C. (2021). Difference-in-differences with multiple time periods. </a:t>
            </a:r>
            <a:r>
              <a:rPr lang="en-US" sz="2400" i="1" dirty="0">
                <a:latin typeface="Times New Roman" panose="02020603050405020304" pitchFamily="18" charset="0"/>
                <a:cs typeface="Times New Roman" panose="02020603050405020304" pitchFamily="18" charset="0"/>
              </a:rPr>
              <a:t>Journal of Econometrics, 225</a:t>
            </a:r>
            <a:r>
              <a:rPr lang="en-US" sz="2400" dirty="0">
                <a:latin typeface="Times New Roman" panose="02020603050405020304" pitchFamily="18" charset="0"/>
                <a:cs typeface="Times New Roman" panose="02020603050405020304" pitchFamily="18" charset="0"/>
              </a:rPr>
              <a:t>(2), 200–230. </a:t>
            </a:r>
          </a:p>
          <a:p>
            <a:r>
              <a:rPr lang="en-US" sz="2400" dirty="0">
                <a:latin typeface="Times New Roman" panose="02020603050405020304" pitchFamily="18" charset="0"/>
                <a:cs typeface="Times New Roman" panose="02020603050405020304" pitchFamily="18" charset="0"/>
              </a:rPr>
              <a:t>Dube, A., Lester, T. W., &amp; Reich, M. (2010). MINIMUM WAGE EFFECTS ACROSS STATE BORDERS: ESTIMATES USING CONTIGUOUS COUNTIES. </a:t>
            </a:r>
            <a:r>
              <a:rPr lang="en-US" sz="2400" i="1" dirty="0">
                <a:latin typeface="Times New Roman" panose="02020603050405020304" pitchFamily="18" charset="0"/>
                <a:cs typeface="Times New Roman" panose="02020603050405020304" pitchFamily="18" charset="0"/>
              </a:rPr>
              <a:t>The Review of Economics and Statistics</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92</a:t>
            </a:r>
            <a:r>
              <a:rPr lang="en-US" sz="2400" dirty="0">
                <a:latin typeface="Times New Roman" panose="02020603050405020304" pitchFamily="18" charset="0"/>
                <a:cs typeface="Times New Roman" panose="02020603050405020304" pitchFamily="18" charset="0"/>
              </a:rPr>
              <a:t>(4), 945–964. </a:t>
            </a:r>
          </a:p>
          <a:p>
            <a:r>
              <a:rPr lang="en-US" sz="2400" dirty="0">
                <a:latin typeface="Times New Roman" panose="02020603050405020304" pitchFamily="18" charset="0"/>
                <a:cs typeface="Times New Roman" panose="02020603050405020304" pitchFamily="18" charset="0"/>
              </a:rPr>
              <a:t>U.S. Department of Labor, Wage and Hour Division. (2024). </a:t>
            </a:r>
            <a:r>
              <a:rPr lang="en-US" sz="2400" i="1" dirty="0">
                <a:latin typeface="Times New Roman" panose="02020603050405020304" pitchFamily="18" charset="0"/>
                <a:cs typeface="Times New Roman" panose="02020603050405020304" pitchFamily="18" charset="0"/>
              </a:rPr>
              <a:t>Changes in Basic Minimum Wages in Non-Farm Employment Under State Law: Selected Years 1968 to 2024. </a:t>
            </a:r>
          </a:p>
          <a:p>
            <a:r>
              <a:rPr lang="en-US" sz="2400" dirty="0">
                <a:latin typeface="Times New Roman" panose="02020603050405020304" pitchFamily="18" charset="0"/>
                <a:cs typeface="Times New Roman" panose="02020603050405020304" pitchFamily="18" charset="0"/>
              </a:rPr>
              <a:t>U.S. Bureau of Labor Statistics. (2024). </a:t>
            </a:r>
            <a:r>
              <a:rPr lang="en-US" sz="2400" i="1" dirty="0">
                <a:latin typeface="Times New Roman" panose="02020603050405020304" pitchFamily="18" charset="0"/>
                <a:cs typeface="Times New Roman" panose="02020603050405020304" pitchFamily="18" charset="0"/>
              </a:rPr>
              <a:t>Local Area Unemployment Statistics (LAUS).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Winkler, M. R., </a:t>
            </a:r>
            <a:r>
              <a:rPr lang="en-US" sz="2400" dirty="0" err="1">
                <a:latin typeface="Times New Roman" panose="02020603050405020304" pitchFamily="18" charset="0"/>
                <a:cs typeface="Times New Roman" panose="02020603050405020304" pitchFamily="18" charset="0"/>
              </a:rPr>
              <a:t>Clohan</a:t>
            </a:r>
            <a:r>
              <a:rPr lang="en-US" sz="2400" dirty="0">
                <a:latin typeface="Times New Roman" panose="02020603050405020304" pitchFamily="18" charset="0"/>
                <a:cs typeface="Times New Roman" panose="02020603050405020304" pitchFamily="18" charset="0"/>
              </a:rPr>
              <a:t>, R., Komro, K. A., Livingston, M. D., &amp; Markowitz, S. (2025). State minimum wage and food insecurity among US households with children. </a:t>
            </a:r>
            <a:r>
              <a:rPr lang="en-US" sz="2400" i="1" dirty="0">
                <a:latin typeface="Times New Roman" panose="02020603050405020304" pitchFamily="18" charset="0"/>
                <a:cs typeface="Times New Roman" panose="02020603050405020304" pitchFamily="18" charset="0"/>
              </a:rPr>
              <a:t>JAMA Network Open, 8</a:t>
            </a:r>
            <a:r>
              <a:rPr lang="en-US" sz="2400" dirty="0">
                <a:latin typeface="Times New Roman" panose="02020603050405020304" pitchFamily="18" charset="0"/>
                <a:cs typeface="Times New Roman" panose="02020603050405020304" pitchFamily="18" charset="0"/>
              </a:rPr>
              <a:t>(3), e252043. </a:t>
            </a:r>
          </a:p>
          <a:p>
            <a:pPr algn="ctr"/>
            <a:endParaRPr lang="en-US" sz="4400" dirty="0">
              <a:latin typeface="Arial"/>
              <a:cs typeface="Aria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94F8CF7-9703-FAB7-8D01-FFB1FC4973C2}"/>
                  </a:ext>
                </a:extLst>
              </p:cNvPr>
              <p:cNvSpPr txBox="1"/>
              <p:nvPr/>
            </p:nvSpPr>
            <p:spPr>
              <a:xfrm>
                <a:off x="1140104" y="17794173"/>
                <a:ext cx="10410596" cy="14619387"/>
              </a:xfrm>
              <a:prstGeom prst="rect">
                <a:avLst/>
              </a:prstGeom>
              <a:noFill/>
              <a:ln w="127000" cap="flat" cmpd="sng" algn="ctr">
                <a:solidFill>
                  <a:srgbClr val="FF0000"/>
                </a:solidFill>
                <a:prstDash val="solid"/>
                <a:round/>
                <a:headEnd type="none" w="med" len="med"/>
                <a:tailEnd type="none" w="med" len="med"/>
              </a:ln>
            </p:spPr>
            <p:txBody>
              <a:bodyPr wrap="square" lIns="274320" tIns="274320" rIns="274320" bIns="274320" rtlCol="0">
                <a:spAutoFit/>
              </a:bodyPr>
              <a:lstStyle/>
              <a:p>
                <a:pPr algn="ctr"/>
                <a:r>
                  <a:rPr lang="en-US" sz="4400" dirty="0">
                    <a:latin typeface="Times New Roman" panose="02020603050405020304" pitchFamily="18" charset="0"/>
                    <a:cs typeface="Times New Roman" panose="02020603050405020304" pitchFamily="18" charset="0"/>
                  </a:rPr>
                  <a:t>Data &amp; Methods</a:t>
                </a:r>
              </a:p>
              <a:p>
                <a:r>
                  <a:rPr lang="en-US" sz="3000" dirty="0">
                    <a:latin typeface="Times New Roman" panose="02020603050405020304" pitchFamily="18" charset="0"/>
                    <a:cs typeface="Times New Roman" panose="02020603050405020304" pitchFamily="18" charset="0"/>
                  </a:rPr>
                  <a:t>Data Sources: </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Integrated Public Use Microdata Series (IPUMS) &amp; American Community Survey (ACS) </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U.S. Bureau of Labor Statistics (BLS) </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U.S. Department of Labor (DOL) </a:t>
                </a:r>
              </a:p>
              <a:p>
                <a:r>
                  <a:rPr lang="en-US" sz="3000" dirty="0">
                    <a:latin typeface="Times New Roman" panose="02020603050405020304" pitchFamily="18" charset="0"/>
                    <a:cs typeface="Times New Roman" panose="02020603050405020304" pitchFamily="18" charset="0"/>
                  </a:rPr>
                  <a:t>Methods: </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Unit of analysis: U.S. state-year observations, 2010-2023</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Population of interest: Full time low-wage workers who are between the ages 18 and 64, working over 35 hours, 50 weeks, and living below or near the federal poverty threshold. </a:t>
                </a:r>
              </a:p>
              <a:p>
                <a:pPr marL="457200" indent="-457200">
                  <a:buFontTx/>
                  <a:buChar char="-"/>
                </a:pPr>
                <a:r>
                  <a:rPr lang="en-US" sz="3000" dirty="0">
                    <a:latin typeface="Times New Roman" panose="02020603050405020304" pitchFamily="18" charset="0"/>
                    <a:cs typeface="Times New Roman" panose="02020603050405020304" pitchFamily="18" charset="0"/>
                  </a:rPr>
                  <a:t>Two-Way Fixed Effects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Estimated population-weighted two-way fixed effects models with: </a:t>
                </a:r>
              </a:p>
              <a:p>
                <a:pPr marL="2860746" lvl="1"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State fixed effects, controlling for time-invariant state characteristics</a:t>
                </a:r>
              </a:p>
              <a:p>
                <a:pPr marL="2860746" lvl="1"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Year fixed effects, capturing national shocks and macroeconomic trends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Standard errors are clustered at the state level.</a:t>
                </a:r>
              </a:p>
              <a:p>
                <a:pPr/>
                <a14:m>
                  <m:oMathPara xmlns:m="http://schemas.openxmlformats.org/officeDocument/2006/math">
                    <m:oMathParaPr>
                      <m:jc m:val="centerGroup"/>
                    </m:oMathParaPr>
                    <m:oMath xmlns:m="http://schemas.openxmlformats.org/officeDocument/2006/math">
                      <m:sSub>
                        <m:sSubPr>
                          <m:ctrlPr>
                            <a:rPr lang="en-US" sz="3000" i="1" smtClean="0">
                              <a:latin typeface="Cambria Math" panose="02040503050406030204" pitchFamily="18" charset="0"/>
                              <a:cs typeface="Times New Roman" panose="02020603050405020304" pitchFamily="18" charset="0"/>
                            </a:rPr>
                          </m:ctrlPr>
                        </m:sSubPr>
                        <m:e>
                          <m:r>
                            <a:rPr lang="en-US" sz="3000" b="0" i="1" smtClean="0">
                              <a:latin typeface="Cambria Math" panose="02040503050406030204" pitchFamily="18" charset="0"/>
                              <a:ea typeface="Cambria Math" panose="02040503050406030204" pitchFamily="18" charset="0"/>
                              <a:cs typeface="Times New Roman" panose="02020603050405020304" pitchFamily="18" charset="0"/>
                            </a:rPr>
                            <m:t>𝛾</m:t>
                          </m:r>
                        </m:e>
                        <m:sub>
                          <m:r>
                            <a:rPr lang="en-US" sz="3000" b="0" i="1" smtClean="0">
                              <a:latin typeface="Cambria Math" panose="02040503050406030204" pitchFamily="18" charset="0"/>
                              <a:cs typeface="Times New Roman" panose="02020603050405020304" pitchFamily="18" charset="0"/>
                            </a:rPr>
                            <m:t>𝑠𝑡</m:t>
                          </m:r>
                        </m:sub>
                      </m:sSub>
                      <m:r>
                        <a:rPr lang="en-US" sz="3000" b="0" i="1" smtClean="0">
                          <a:latin typeface="Cambria Math" panose="02040503050406030204" pitchFamily="18" charset="0"/>
                          <a:cs typeface="Times New Roman" panose="02020603050405020304" pitchFamily="18" charset="0"/>
                        </a:rPr>
                        <m:t>=</m:t>
                      </m:r>
                      <m:r>
                        <a:rPr lang="en-US" sz="3000" b="0" i="1" smtClean="0">
                          <a:latin typeface="Cambria Math" panose="02040503050406030204" pitchFamily="18" charset="0"/>
                          <a:ea typeface="Cambria Math" panose="02040503050406030204" pitchFamily="18" charset="0"/>
                          <a:cs typeface="Times New Roman" panose="02020603050405020304" pitchFamily="18" charset="0"/>
                        </a:rPr>
                        <m:t>𝛽</m:t>
                      </m:r>
                      <m:func>
                        <m:funcPr>
                          <m:ctrlPr>
                            <a:rPr lang="en-US" sz="3000" i="1" smtClean="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3000" b="0" i="0" smtClean="0">
                              <a:latin typeface="Cambria Math" panose="02040503050406030204" pitchFamily="18" charset="0"/>
                              <a:ea typeface="Cambria Math" panose="02040503050406030204" pitchFamily="18" charset="0"/>
                              <a:cs typeface="Times New Roman" panose="02020603050405020304" pitchFamily="18" charset="0"/>
                            </a:rPr>
                            <m:t>log</m:t>
                          </m:r>
                        </m:fName>
                        <m:e>
                          <m:d>
                            <m:dPr>
                              <m:ctrlPr>
                                <a:rPr lang="en-US" sz="300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sz="3000" i="1">
                                      <a:latin typeface="Cambria Math" panose="02040503050406030204" pitchFamily="18" charset="0"/>
                                      <a:cs typeface="Times New Roman" panose="02020603050405020304" pitchFamily="18" charset="0"/>
                                    </a:rPr>
                                  </m:ctrlPr>
                                </m:sSubPr>
                                <m:e>
                                  <m:r>
                                    <a:rPr lang="en-US" sz="3000" b="0" i="1" smtClean="0">
                                      <a:latin typeface="Cambria Math" panose="02040503050406030204" pitchFamily="18" charset="0"/>
                                      <a:cs typeface="Times New Roman" panose="02020603050405020304" pitchFamily="18" charset="0"/>
                                    </a:rPr>
                                    <m:t>𝑀𝑖𝑛𝑖𝑚𝑢𝑚</m:t>
                                  </m:r>
                                  <m:r>
                                    <a:rPr lang="en-US" sz="3000" b="0" i="1" smtClean="0">
                                      <a:latin typeface="Cambria Math" panose="02040503050406030204" pitchFamily="18" charset="0"/>
                                      <a:cs typeface="Times New Roman" panose="02020603050405020304" pitchFamily="18" charset="0"/>
                                    </a:rPr>
                                    <m:t> </m:t>
                                  </m:r>
                                  <m:r>
                                    <a:rPr lang="en-US" sz="3000" b="0" i="1" smtClean="0">
                                      <a:latin typeface="Cambria Math" panose="02040503050406030204" pitchFamily="18" charset="0"/>
                                      <a:cs typeface="Times New Roman" panose="02020603050405020304" pitchFamily="18" charset="0"/>
                                    </a:rPr>
                                    <m:t>𝑊𝑎𝑔𝑒</m:t>
                                  </m:r>
                                </m:e>
                                <m:sub>
                                  <m:r>
                                    <a:rPr lang="en-US" sz="3000" b="0" i="1" smtClean="0">
                                      <a:latin typeface="Cambria Math" panose="02040503050406030204" pitchFamily="18" charset="0"/>
                                      <a:cs typeface="Times New Roman" panose="02020603050405020304" pitchFamily="18" charset="0"/>
                                    </a:rPr>
                                    <m:t>𝑠𝑡</m:t>
                                  </m:r>
                                </m:sub>
                              </m:sSub>
                            </m:e>
                          </m:d>
                        </m:e>
                      </m:func>
                      <m:r>
                        <a:rPr lang="en-US" sz="3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3000" i="1">
                              <a:latin typeface="Cambria Math" panose="02040503050406030204" pitchFamily="18" charset="0"/>
                              <a:cs typeface="Times New Roman" panose="02020603050405020304" pitchFamily="18" charset="0"/>
                            </a:rPr>
                          </m:ctrlPr>
                        </m:sSubPr>
                        <m:e>
                          <m:r>
                            <a:rPr lang="en-US" sz="3000" b="0" i="1" smtClean="0">
                              <a:latin typeface="Cambria Math" panose="02040503050406030204" pitchFamily="18" charset="0"/>
                              <a:cs typeface="Times New Roman" panose="02020603050405020304" pitchFamily="18" charset="0"/>
                            </a:rPr>
                            <m:t>𝑋</m:t>
                          </m:r>
                        </m:e>
                        <m:sub>
                          <m:r>
                            <a:rPr lang="en-US" sz="3000" b="0" i="1" smtClean="0">
                              <a:latin typeface="Cambria Math" panose="02040503050406030204" pitchFamily="18" charset="0"/>
                              <a:cs typeface="Times New Roman" panose="02020603050405020304" pitchFamily="18" charset="0"/>
                            </a:rPr>
                            <m:t>𝑠𝑡</m:t>
                          </m:r>
                        </m:sub>
                      </m:sSub>
                      <m:r>
                        <a:rPr lang="en-US" sz="3000" b="0" i="1" smtClean="0">
                          <a:latin typeface="Cambria Math" panose="02040503050406030204" pitchFamily="18" charset="0"/>
                          <a:cs typeface="Times New Roman" panose="02020603050405020304" pitchFamily="18" charset="0"/>
                        </a:rPr>
                        <m:t>+</m:t>
                      </m:r>
                      <m:sSub>
                        <m:sSubPr>
                          <m:ctrlPr>
                            <a:rPr lang="en-US" sz="3000" i="1" smtClean="0">
                              <a:latin typeface="Cambria Math" panose="02040503050406030204" pitchFamily="18" charset="0"/>
                              <a:cs typeface="Times New Roman" panose="02020603050405020304" pitchFamily="18" charset="0"/>
                            </a:rPr>
                          </m:ctrlPr>
                        </m:sSubPr>
                        <m:e>
                          <m:r>
                            <a:rPr lang="en-US" sz="3000" b="0" i="1" smtClean="0">
                              <a:latin typeface="Cambria Math" panose="02040503050406030204" pitchFamily="18" charset="0"/>
                              <a:cs typeface="Times New Roman" panose="02020603050405020304" pitchFamily="18" charset="0"/>
                            </a:rPr>
                            <m:t>𝑎</m:t>
                          </m:r>
                        </m:e>
                        <m:sub>
                          <m:r>
                            <a:rPr lang="en-US" sz="3000" b="0" i="1" smtClean="0">
                              <a:latin typeface="Cambria Math" panose="02040503050406030204" pitchFamily="18" charset="0"/>
                              <a:cs typeface="Times New Roman" panose="02020603050405020304" pitchFamily="18" charset="0"/>
                            </a:rPr>
                            <m:t>𝑠</m:t>
                          </m:r>
                        </m:sub>
                      </m:sSub>
                      <m:r>
                        <a:rPr lang="en-US" sz="3000" b="0" i="1" smtClean="0">
                          <a:latin typeface="Cambria Math" panose="02040503050406030204" pitchFamily="18" charset="0"/>
                          <a:cs typeface="Times New Roman" panose="02020603050405020304" pitchFamily="18" charset="0"/>
                        </a:rPr>
                        <m:t>+</m:t>
                      </m:r>
                      <m:sSub>
                        <m:sSubPr>
                          <m:ctrlPr>
                            <a:rPr lang="en-US" sz="3000" i="1">
                              <a:latin typeface="Cambria Math" panose="02040503050406030204" pitchFamily="18" charset="0"/>
                              <a:cs typeface="Times New Roman" panose="02020603050405020304" pitchFamily="18" charset="0"/>
                            </a:rPr>
                          </m:ctrlPr>
                        </m:sSubPr>
                        <m:e>
                          <m:r>
                            <a:rPr lang="en-US" sz="3000" b="0" i="1" smtClean="0">
                              <a:latin typeface="Cambria Math" panose="02040503050406030204" pitchFamily="18" charset="0"/>
                              <a:ea typeface="Cambria Math" panose="02040503050406030204" pitchFamily="18" charset="0"/>
                              <a:cs typeface="Times New Roman" panose="02020603050405020304" pitchFamily="18" charset="0"/>
                            </a:rPr>
                            <m:t>𝜆</m:t>
                          </m:r>
                        </m:e>
                        <m:sub>
                          <m:r>
                            <a:rPr lang="en-US" sz="3000" b="0" i="1" smtClean="0">
                              <a:latin typeface="Cambria Math" panose="02040503050406030204" pitchFamily="18" charset="0"/>
                              <a:cs typeface="Times New Roman" panose="02020603050405020304" pitchFamily="18" charset="0"/>
                            </a:rPr>
                            <m:t>𝑡</m:t>
                          </m:r>
                        </m:sub>
                      </m:sSub>
                      <m:r>
                        <a:rPr lang="en-US" sz="3000" b="0" i="1" smtClean="0">
                          <a:latin typeface="Cambria Math" panose="02040503050406030204" pitchFamily="18" charset="0"/>
                          <a:cs typeface="Times New Roman" panose="02020603050405020304" pitchFamily="18" charset="0"/>
                        </a:rPr>
                        <m:t>+</m:t>
                      </m:r>
                      <m:sSub>
                        <m:sSubPr>
                          <m:ctrlPr>
                            <a:rPr lang="en-US" sz="3000" i="1" smtClean="0">
                              <a:latin typeface="Cambria Math" panose="02040503050406030204" pitchFamily="18" charset="0"/>
                              <a:cs typeface="Times New Roman" panose="02020603050405020304" pitchFamily="18" charset="0"/>
                            </a:rPr>
                          </m:ctrlPr>
                        </m:sSubPr>
                        <m:e>
                          <m:r>
                            <a:rPr lang="en-US" sz="3000" b="0" i="1" smtClean="0">
                              <a:latin typeface="Cambria Math" panose="02040503050406030204" pitchFamily="18" charset="0"/>
                              <a:ea typeface="Cambria Math" panose="02040503050406030204" pitchFamily="18" charset="0"/>
                              <a:cs typeface="Times New Roman" panose="02020603050405020304" pitchFamily="18" charset="0"/>
                            </a:rPr>
                            <m:t>𝜀</m:t>
                          </m:r>
                        </m:e>
                        <m:sub>
                          <m:r>
                            <a:rPr lang="en-US" sz="3000" b="0" i="1" smtClean="0">
                              <a:latin typeface="Cambria Math" panose="02040503050406030204" pitchFamily="18" charset="0"/>
                              <a:cs typeface="Times New Roman" panose="02020603050405020304" pitchFamily="18" charset="0"/>
                            </a:rPr>
                            <m:t>𝑠𝑡</m:t>
                          </m:r>
                        </m:sub>
                      </m:sSub>
                    </m:oMath>
                  </m:oMathPara>
                </a14:m>
                <a:endParaRPr lang="en-US"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This specification isolates within-state changes over time, net of persistent cross-state differences.</a:t>
                </a:r>
              </a:p>
              <a:p>
                <a:pPr marL="457200" indent="-457200">
                  <a:buFontTx/>
                  <a:buChar char="-"/>
                </a:pPr>
                <a:r>
                  <a:rPr lang="en-US" sz="3000" dirty="0">
                    <a:latin typeface="Times New Roman" panose="02020603050405020304" pitchFamily="18" charset="0"/>
                    <a:cs typeface="Times New Roman" panose="02020603050405020304" pitchFamily="18" charset="0"/>
                  </a:rPr>
                  <a:t>Difference-in-Differences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A difference-in-differences design following Callaway &amp; Sant’Anna (2021) is implemented to account for staggered adoption of minimum wage increases.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Treatment is defined as the first year a state increases its minimum wage.</a:t>
                </a:r>
              </a:p>
            </p:txBody>
          </p:sp>
        </mc:Choice>
        <mc:Fallback xmlns="">
          <p:sp>
            <p:nvSpPr>
              <p:cNvPr id="3" name="TextBox 2">
                <a:extLst>
                  <a:ext uri="{FF2B5EF4-FFF2-40B4-BE49-F238E27FC236}">
                    <a16:creationId xmlns:a16="http://schemas.microsoft.com/office/drawing/2014/main" id="{B94F8CF7-9703-FAB7-8D01-FFB1FC4973C2}"/>
                  </a:ext>
                </a:extLst>
              </p:cNvPr>
              <p:cNvSpPr txBox="1">
                <a:spLocks noRot="1" noChangeAspect="1" noMove="1" noResize="1" noEditPoints="1" noAdjustHandles="1" noChangeArrowheads="1" noChangeShapeType="1" noTextEdit="1"/>
              </p:cNvSpPr>
              <p:nvPr/>
            </p:nvSpPr>
            <p:spPr>
              <a:xfrm>
                <a:off x="1140104" y="17794173"/>
                <a:ext cx="10410596" cy="14619387"/>
              </a:xfrm>
              <a:prstGeom prst="rect">
                <a:avLst/>
              </a:prstGeom>
              <a:blipFill>
                <a:blip r:embed="rId2"/>
                <a:stretch>
                  <a:fillRect/>
                </a:stretch>
              </a:blipFill>
              <a:ln w="127000" cap="flat" cmpd="sng" algn="ctr">
                <a:solidFill>
                  <a:srgbClr val="FF0000"/>
                </a:solidFill>
                <a:prstDash val="solid"/>
                <a:round/>
                <a:headEnd type="none" w="med" len="med"/>
                <a:tailEnd type="none" w="med" len="med"/>
              </a:ln>
            </p:spPr>
            <p:txBody>
              <a:bodyPr/>
              <a:lstStyle/>
              <a:p>
                <a:r>
                  <a:rPr lang="en-US">
                    <a:noFill/>
                  </a:rPr>
                  <a:t> </a:t>
                </a:r>
              </a:p>
            </p:txBody>
          </p:sp>
        </mc:Fallback>
      </mc:AlternateContent>
      <p:pic>
        <p:nvPicPr>
          <p:cNvPr id="22" name="Picture 21">
            <a:extLst>
              <a:ext uri="{FF2B5EF4-FFF2-40B4-BE49-F238E27FC236}">
                <a16:creationId xmlns:a16="http://schemas.microsoft.com/office/drawing/2014/main" id="{38B8C16C-F02C-D470-8834-2C39AC0514F4}"/>
              </a:ext>
            </a:extLst>
          </p:cNvPr>
          <p:cNvPicPr>
            <a:picLocks noChangeAspect="1"/>
          </p:cNvPicPr>
          <p:nvPr/>
        </p:nvPicPr>
        <p:blipFill>
          <a:blip r:embed="rId3"/>
          <a:stretch>
            <a:fillRect/>
          </a:stretch>
        </p:blipFill>
        <p:spPr>
          <a:xfrm>
            <a:off x="27395829" y="9428724"/>
            <a:ext cx="9971524" cy="5982914"/>
          </a:xfrm>
          <a:prstGeom prst="rect">
            <a:avLst/>
          </a:prstGeom>
        </p:spPr>
      </p:pic>
      <p:pic>
        <p:nvPicPr>
          <p:cNvPr id="24" name="Picture 23">
            <a:extLst>
              <a:ext uri="{FF2B5EF4-FFF2-40B4-BE49-F238E27FC236}">
                <a16:creationId xmlns:a16="http://schemas.microsoft.com/office/drawing/2014/main" id="{B4B1B207-06A2-BC6A-A310-DDCAF727FB78}"/>
              </a:ext>
            </a:extLst>
          </p:cNvPr>
          <p:cNvPicPr>
            <a:picLocks noChangeAspect="1"/>
          </p:cNvPicPr>
          <p:nvPr/>
        </p:nvPicPr>
        <p:blipFill>
          <a:blip r:embed="rId4"/>
          <a:stretch>
            <a:fillRect/>
          </a:stretch>
        </p:blipFill>
        <p:spPr>
          <a:xfrm>
            <a:off x="27398732" y="20378388"/>
            <a:ext cx="9971522" cy="6903360"/>
          </a:xfrm>
          <a:prstGeom prst="rect">
            <a:avLst/>
          </a:prstGeom>
        </p:spPr>
      </p:pic>
      <p:sp>
        <p:nvSpPr>
          <p:cNvPr id="25" name="TextBox 24">
            <a:extLst>
              <a:ext uri="{FF2B5EF4-FFF2-40B4-BE49-F238E27FC236}">
                <a16:creationId xmlns:a16="http://schemas.microsoft.com/office/drawing/2014/main" id="{35963C68-1828-1FD7-53B2-825CF3470E71}"/>
              </a:ext>
            </a:extLst>
          </p:cNvPr>
          <p:cNvSpPr txBox="1"/>
          <p:nvPr/>
        </p:nvSpPr>
        <p:spPr>
          <a:xfrm>
            <a:off x="12864163" y="26812654"/>
            <a:ext cx="10802787" cy="353943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Table 1. Two-Way Fixed Effects Estimates of Minimum Wage Effects on Poverty. The table reports population-weighted two-way fixed effects estimates of the relationship between the real minimum wage and poverty rates among full-time low-wage workers. Column (1) includes state and year fixed effects with covariates. Column (2) adds state-specific linear time trends. Standard errors clustered by state are shown in parentheses. Statistical significance is denoted by . p &lt; 0.1, * p &lt; 0.05, ** p &lt; 0.01, and *** p &lt; 0.001.</a:t>
            </a:r>
          </a:p>
        </p:txBody>
      </p:sp>
      <p:pic>
        <p:nvPicPr>
          <p:cNvPr id="27" name="Picture 26">
            <a:extLst>
              <a:ext uri="{FF2B5EF4-FFF2-40B4-BE49-F238E27FC236}">
                <a16:creationId xmlns:a16="http://schemas.microsoft.com/office/drawing/2014/main" id="{C002A6AE-4C15-FDA0-D891-1194904AA45E}"/>
              </a:ext>
            </a:extLst>
          </p:cNvPr>
          <p:cNvPicPr>
            <a:picLocks noChangeAspect="1"/>
          </p:cNvPicPr>
          <p:nvPr/>
        </p:nvPicPr>
        <p:blipFill>
          <a:blip r:embed="rId5"/>
          <a:srcRect t="4222" b="4726"/>
          <a:stretch>
            <a:fillRect/>
          </a:stretch>
        </p:blipFill>
        <p:spPr>
          <a:xfrm>
            <a:off x="12655052" y="20903143"/>
            <a:ext cx="11705746" cy="5909511"/>
          </a:xfrm>
          <a:prstGeom prst="rect">
            <a:avLst/>
          </a:prstGeom>
        </p:spPr>
      </p:pic>
      <p:sp>
        <p:nvSpPr>
          <p:cNvPr id="28" name="TextBox 27">
            <a:extLst>
              <a:ext uri="{FF2B5EF4-FFF2-40B4-BE49-F238E27FC236}">
                <a16:creationId xmlns:a16="http://schemas.microsoft.com/office/drawing/2014/main" id="{3717F5C8-F8DE-4649-BFDA-0B7C30996B1E}"/>
              </a:ext>
            </a:extLst>
          </p:cNvPr>
          <p:cNvSpPr txBox="1"/>
          <p:nvPr/>
        </p:nvSpPr>
        <p:spPr>
          <a:xfrm>
            <a:off x="27398732" y="15778272"/>
            <a:ext cx="9971523" cy="3108543"/>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Figure 1. Event Study of Minimum Wage Increases on Poverty Rates. Event-study estimates of the average treatment effect on the treated following minimum wage increases are pictured, using the staggered difference-in-differences estimator with covariates. Points represent estimated effects by event time. Pre-treatment estimates cluster near zero, while post-treatment estimates suggest modest declines in poverty with substantial uncertainty.</a:t>
            </a:r>
          </a:p>
        </p:txBody>
      </p:sp>
      <p:sp>
        <p:nvSpPr>
          <p:cNvPr id="29" name="TextBox 28">
            <a:extLst>
              <a:ext uri="{FF2B5EF4-FFF2-40B4-BE49-F238E27FC236}">
                <a16:creationId xmlns:a16="http://schemas.microsoft.com/office/drawing/2014/main" id="{6969B562-9AB3-ECF3-6806-169B1DF580F4}"/>
              </a:ext>
            </a:extLst>
          </p:cNvPr>
          <p:cNvSpPr txBox="1"/>
          <p:nvPr/>
        </p:nvSpPr>
        <p:spPr>
          <a:xfrm>
            <a:off x="27398730" y="27281748"/>
            <a:ext cx="9971524"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Figure 2. Parallel Trends in Poverty Rates for Treated and Control States. Mean poverty rates for treated and control states prior to minimum wage increases. Similar pre-treatment trajectories provide descriptive support for the parallel trends assumption underlying the difference-in-differences framework.</a:t>
            </a:r>
          </a:p>
        </p:txBody>
      </p:sp>
      <p:pic>
        <p:nvPicPr>
          <p:cNvPr id="1032" name="Picture 8" descr="Spirit Denison University Round Mouse Pad – Shop Denison University">
            <a:extLst>
              <a:ext uri="{FF2B5EF4-FFF2-40B4-BE49-F238E27FC236}">
                <a16:creationId xmlns:a16="http://schemas.microsoft.com/office/drawing/2014/main" id="{1DF73F98-8776-36AD-99FE-02073A00DF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98407" y="1605696"/>
            <a:ext cx="5715000" cy="5715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DataConnect Conference | October 2-3, 2025 | Hosted by Women in Analytics">
            <a:extLst>
              <a:ext uri="{FF2B5EF4-FFF2-40B4-BE49-F238E27FC236}">
                <a16:creationId xmlns:a16="http://schemas.microsoft.com/office/drawing/2014/main" id="{70C71F86-23CC-72DF-AB41-EAC66A01E9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0104" y="3331645"/>
            <a:ext cx="6200349" cy="23929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759</TotalTime>
  <Words>1228</Words>
  <Application>Microsoft Office PowerPoint</Application>
  <PresentationFormat>Custom</PresentationFormat>
  <Paragraphs>106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 Math</vt:lpstr>
      <vt:lpstr>Times New Roman</vt:lpstr>
      <vt:lpstr>Office Theme</vt:lpstr>
      <vt:lpstr>PowerPoint Presentation</vt:lpstr>
    </vt:vector>
  </TitlesOfParts>
  <Company>Denison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macadmin</dc:creator>
  <cp:lastModifiedBy>Calvin Burzynski</cp:lastModifiedBy>
  <cp:revision>26</cp:revision>
  <cp:lastPrinted>2012-07-10T19:04:34Z</cp:lastPrinted>
  <dcterms:created xsi:type="dcterms:W3CDTF">2013-07-03T01:43:19Z</dcterms:created>
  <dcterms:modified xsi:type="dcterms:W3CDTF">2025-12-12T14:15:42Z</dcterms:modified>
</cp:coreProperties>
</file>